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开场简述格林公式的地位和作用，激发学习兴趣。</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通过类比引导学生理解格林公式的思想渊源，强调边界正向的定义。</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板书定理内容，说明每一个符号的含义，特别是正向和光滑性的要求。</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不必写出完整证明，重在揭示证明的逻辑：化二重积分为累次积分，结合微积分基本定理。</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通过实际例子展示面积公式的用法，强调选择合适表达简化计算。</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讲解补线法和挖洞法的思想，提醒学生注意条件验证。</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通过例题巩固两种技巧，引导学生逐步分析并书写规范步骤。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总结核心内容，提醒学生注意易错点，布置相关练习巩固。</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格林公式</a:t>
            </a:r>
          </a:p>
        </p:txBody>
      </p:sp>
      <p:sp>
        <p:nvSpPr>
          <p:cNvPr id="3" name="Subtitle 2"/>
          <p:cNvSpPr>
            <a:spLocks noGrp="1"/>
          </p:cNvSpPr>
          <p:nvPr>
            <p:ph type="subTitle" idx="1"/>
          </p:nvPr>
        </p:nvSpPr>
        <p:spPr/>
        <p:txBody>
          <a:bodyPr/>
          <a:lstStyle/>
          <a:p>
            <a:r>
              <a:t>AI 个性化学习 · 自动生成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a:solidFill>
                  <a:srgbClr val="1F497D"/>
                </a:solidFill>
              </a:defRPr>
            </a:pPr>
            <a:r>
              <a:t>格林公式——平面区域的二重积分与边界曲线积分</a:t>
            </a:r>
          </a:p>
        </p:txBody>
      </p:sp>
      <p:sp>
        <p:nvSpPr>
          <p:cNvPr id="3" name="Content Placeholder 2"/>
          <p:cNvSpPr>
            <a:spLocks noGrp="1"/>
          </p:cNvSpPr>
          <p:nvPr>
            <p:ph idx="1"/>
          </p:nvPr>
        </p:nvSpPr>
        <p:spPr/>
        <p:txBody>
          <a:bodyPr/>
          <a:lstStyle/>
          <a:p/>
          <a:p>
            <a:pPr>
              <a:spcAft>
                <a:spcPts val="600"/>
              </a:spcAft>
              <a:defRPr sz="2000"/>
            </a:pPr>
            <a:r>
              <a:t>格林公式建立了平面闭区域上二重积分与其边界曲线上的曲线积分之间的联系</a:t>
            </a:r>
          </a:p>
          <a:p>
            <a:pPr>
              <a:spcAft>
                <a:spcPts val="600"/>
              </a:spcAft>
              <a:defRPr sz="2000"/>
            </a:pPr>
            <a:r>
              <a:t>被称为“平面上的牛顿-莱布尼茨公式”</a:t>
            </a:r>
          </a:p>
          <a:p>
            <a:pPr>
              <a:spcAft>
                <a:spcPts val="600"/>
              </a:spcAft>
              <a:defRPr sz="2000"/>
            </a:pPr>
            <a:r>
              <a:t>在计算曲线积分、求区域面积等方面有广泛应用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a:solidFill>
                  <a:srgbClr val="1F497D"/>
                </a:solidFill>
              </a:defRPr>
            </a:pPr>
            <a:r>
              <a:t>从牛顿-莱布尼茨公式到格林公式</a:t>
            </a:r>
          </a:p>
        </p:txBody>
      </p:sp>
      <p:sp>
        <p:nvSpPr>
          <p:cNvPr id="3" name="Content Placeholder 2"/>
          <p:cNvSpPr>
            <a:spLocks noGrp="1"/>
          </p:cNvSpPr>
          <p:nvPr>
            <p:ph idx="1"/>
          </p:nvPr>
        </p:nvSpPr>
        <p:spPr/>
        <p:txBody>
          <a:bodyPr/>
          <a:lstStyle/>
          <a:p/>
          <a:p>
            <a:pPr>
              <a:spcAft>
                <a:spcPts val="600"/>
              </a:spcAft>
              <a:defRPr sz="2000"/>
            </a:pPr>
            <a:r>
              <a:t>定积分中的牛顿-莱布尼茨公式：∫_a^b F'(x) dx = F(b) - F(a)，沟通了区间上的积分与端点的值</a:t>
            </a:r>
          </a:p>
          <a:p>
            <a:pPr>
              <a:spcAft>
                <a:spcPts val="600"/>
              </a:spcAft>
              <a:defRPr sz="2000"/>
            </a:pPr>
            <a:r>
              <a:t>二重积分是否可以建立类似联系？——将区域上的积分与边界上的积分关联</a:t>
            </a:r>
          </a:p>
          <a:p>
            <a:pPr>
              <a:spcAft>
                <a:spcPts val="600"/>
              </a:spcAft>
              <a:defRPr sz="2000"/>
            </a:pPr>
            <a:r>
              <a:t>引入平面闭区域的边界曲线正向规定：沿边界行走时区域总在左侧</a:t>
            </a:r>
          </a:p>
          <a:p>
            <a:pPr>
              <a:spcAft>
                <a:spcPts val="600"/>
              </a:spcAft>
              <a:defRPr sz="2000"/>
            </a:pPr>
            <a:r>
              <a:t>格林公式正是这种推广：∮_L Pdx + Qdy = ∬_D (∂Q/∂x - ∂P/∂y) dσ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a:solidFill>
                  <a:srgbClr val="1F497D"/>
                </a:solidFill>
              </a:defRPr>
            </a:pPr>
            <a:r>
              <a:t>格林公式的严格陈述</a:t>
            </a:r>
          </a:p>
        </p:txBody>
      </p:sp>
      <p:sp>
        <p:nvSpPr>
          <p:cNvPr id="3" name="Content Placeholder 2"/>
          <p:cNvSpPr>
            <a:spLocks noGrp="1"/>
          </p:cNvSpPr>
          <p:nvPr>
            <p:ph idx="1"/>
          </p:nvPr>
        </p:nvSpPr>
        <p:spPr/>
        <p:txBody>
          <a:bodyPr/>
          <a:lstStyle/>
          <a:p/>
          <a:p>
            <a:pPr>
              <a:spcAft>
                <a:spcPts val="600"/>
              </a:spcAft>
              <a:defRPr sz="2000"/>
            </a:pPr>
            <a:r>
              <a:t>条件：设闭区域D由分段光滑的简单闭曲线L围成，函数P(x,y), Q(x,y)在D上具有一阶连续偏导数</a:t>
            </a:r>
          </a:p>
          <a:p>
            <a:pPr>
              <a:spcAft>
                <a:spcPts val="600"/>
              </a:spcAft>
              <a:defRPr sz="2000"/>
            </a:pPr>
            <a:r>
              <a:t>结论：∮_L P dx + Q dy = ∬_D (∂Q/∂x - ∂P/∂y) dσ</a:t>
            </a:r>
          </a:p>
          <a:p>
            <a:pPr>
              <a:spcAft>
                <a:spcPts val="600"/>
              </a:spcAft>
              <a:defRPr sz="2000"/>
            </a:pPr>
            <a:r>
              <a:t>其中L取正向（沿L行走时D总在左侧）</a:t>
            </a:r>
          </a:p>
          <a:p>
            <a:pPr>
              <a:spcAft>
                <a:spcPts val="600"/>
              </a:spcAft>
              <a:defRPr sz="2000"/>
            </a:pPr>
            <a:r>
              <a:t>公式左边是沿边界L的对坐标的曲线积分，右边是区域D上的二重积分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a:solidFill>
                  <a:srgbClr val="1F497D"/>
                </a:solidFill>
              </a:defRPr>
            </a:pPr>
            <a:r>
              <a:t>格林公式的证明思路</a:t>
            </a:r>
          </a:p>
        </p:txBody>
      </p:sp>
      <p:sp>
        <p:nvSpPr>
          <p:cNvPr id="3" name="Content Placeholder 2"/>
          <p:cNvSpPr>
            <a:spLocks noGrp="1"/>
          </p:cNvSpPr>
          <p:nvPr>
            <p:ph idx="1"/>
          </p:nvPr>
        </p:nvSpPr>
        <p:spPr/>
        <p:txBody>
          <a:bodyPr/>
          <a:lstStyle/>
          <a:p/>
          <a:p>
            <a:pPr>
              <a:spcAft>
                <a:spcPts val="600"/>
              </a:spcAft>
              <a:defRPr sz="2000"/>
            </a:pPr>
            <a:r>
              <a:t>先将区域D划分为X型区域和Y型区域，分别证明</a:t>
            </a:r>
          </a:p>
          <a:p>
            <a:pPr>
              <a:spcAft>
                <a:spcPts val="600"/>
              </a:spcAft>
              <a:defRPr sz="2000"/>
            </a:pPr>
            <a:r>
              <a:t>对X型区域：先将二重积分化为二次积分，再与曲线积分对应部分比较</a:t>
            </a:r>
          </a:p>
          <a:p>
            <a:pPr>
              <a:spcAft>
                <a:spcPts val="600"/>
              </a:spcAft>
              <a:defRPr sz="2000"/>
            </a:pPr>
            <a:r>
              <a:t>关键步骤：∬_D ∂P/∂y dσ = -∮_L P dx，∬_D ∂Q/∂x dσ = ∮_L Q dy</a:t>
            </a:r>
          </a:p>
          <a:p>
            <a:pPr>
              <a:spcAft>
                <a:spcPts val="600"/>
              </a:spcAft>
              <a:defRPr sz="2000"/>
            </a:pPr>
            <a:r>
              <a:t>两者相加即得格林公式，对于更复杂区域可分割为小区域再叠加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a:solidFill>
                  <a:srgbClr val="1F497D"/>
                </a:solidFill>
              </a:defRPr>
            </a:pPr>
            <a:r>
              <a:t>应用一：利用格林公式计算平面图形面积</a:t>
            </a:r>
          </a:p>
        </p:txBody>
      </p:sp>
      <p:sp>
        <p:nvSpPr>
          <p:cNvPr id="3" name="Content Placeholder 2"/>
          <p:cNvSpPr>
            <a:spLocks noGrp="1"/>
          </p:cNvSpPr>
          <p:nvPr>
            <p:ph idx="1"/>
          </p:nvPr>
        </p:nvSpPr>
        <p:spPr/>
        <p:txBody>
          <a:bodyPr/>
          <a:lstStyle/>
          <a:p/>
          <a:p>
            <a:pPr>
              <a:spcAft>
                <a:spcPts val="600"/>
              </a:spcAft>
              <a:defRPr sz="2000"/>
            </a:pPr>
            <a:r>
              <a:t>取 P = -y, Q = x，则 ∂Q/∂x - ∂P/∂y = 2</a:t>
            </a:r>
          </a:p>
          <a:p>
            <a:pPr>
              <a:spcAft>
                <a:spcPts val="600"/>
              </a:spcAft>
              <a:defRPr sz="2000"/>
            </a:pPr>
            <a:r>
              <a:t>面积 A = ∬_D 1 dσ = 1/2 ∮_L (x dy - y dx)</a:t>
            </a:r>
          </a:p>
          <a:p>
            <a:pPr>
              <a:spcAft>
                <a:spcPts val="600"/>
              </a:spcAft>
              <a:defRPr sz="2000"/>
            </a:pPr>
            <a:r>
              <a:t>也可取 P = 0, Q = x，得 A = ∮_L x dy；或 P = -y, Q = 0，得 A = -∮_L y dx</a:t>
            </a:r>
          </a:p>
          <a:p>
            <a:pPr>
              <a:spcAft>
                <a:spcPts val="600"/>
              </a:spcAft>
              <a:defRPr sz="2000"/>
            </a:pPr>
            <a:r>
              <a:t>示例：椭圆 L: x = a cos t, y = b sin t 围成面积 A = πab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a:solidFill>
                  <a:srgbClr val="1F497D"/>
                </a:solidFill>
              </a:defRPr>
            </a:pPr>
            <a:r>
              <a:t>应用二：简化曲线积分计算</a:t>
            </a:r>
          </a:p>
        </p:txBody>
      </p:sp>
      <p:sp>
        <p:nvSpPr>
          <p:cNvPr id="3" name="Content Placeholder 2"/>
          <p:cNvSpPr>
            <a:spLocks noGrp="1"/>
          </p:cNvSpPr>
          <p:nvPr>
            <p:ph idx="1"/>
          </p:nvPr>
        </p:nvSpPr>
        <p:spPr/>
        <p:txBody>
          <a:bodyPr/>
          <a:lstStyle/>
          <a:p/>
          <a:p>
            <a:pPr>
              <a:spcAft>
                <a:spcPts val="600"/>
              </a:spcAft>
              <a:defRPr sz="2000"/>
            </a:pPr>
            <a:r>
              <a:t>当曲线L封闭且符合条件时，可直接将曲线积分转化为二重积分</a:t>
            </a:r>
          </a:p>
          <a:p>
            <a:pPr>
              <a:spcAft>
                <a:spcPts val="600"/>
              </a:spcAft>
              <a:defRPr sz="2000"/>
            </a:pPr>
            <a:r>
              <a:t>若L不封闭，可添加辅助线使其封闭，再减去辅助线上的积分</a:t>
            </a:r>
          </a:p>
          <a:p>
            <a:pPr>
              <a:spcAft>
                <a:spcPts val="600"/>
              </a:spcAft>
              <a:defRPr sz="2000"/>
            </a:pPr>
            <a:r>
              <a:t>若被积函数在区域内存在奇点（不满足连续偏导），需挖去奇点附近的小区域</a:t>
            </a:r>
          </a:p>
          <a:p>
            <a:pPr>
              <a:spcAft>
                <a:spcPts val="600"/>
              </a:spcAft>
              <a:defRPr sz="2000"/>
            </a:pPr>
            <a:r>
              <a:t>典型例子：∮_L (-y dx + x dy)/(x^2+y^2) 在包含原点的闭曲线上，取适当小圆挖去原点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a:solidFill>
                  <a:srgbClr val="1F497D"/>
                </a:solidFill>
              </a:defRPr>
            </a:pPr>
            <a:r>
              <a:t>典型例题</a:t>
            </a:r>
          </a:p>
        </p:txBody>
      </p:sp>
      <p:sp>
        <p:nvSpPr>
          <p:cNvPr id="3" name="Content Placeholder 2"/>
          <p:cNvSpPr>
            <a:spLocks noGrp="1"/>
          </p:cNvSpPr>
          <p:nvPr>
            <p:ph idx="1"/>
          </p:nvPr>
        </p:nvSpPr>
        <p:spPr/>
        <p:txBody>
          <a:bodyPr/>
          <a:lstStyle/>
          <a:p/>
          <a:p>
            <a:pPr>
              <a:spcAft>
                <a:spcPts val="600"/>
              </a:spcAft>
              <a:defRPr sz="2000"/>
            </a:pPr>
            <a:r>
              <a:t>例1：计算 ∮_L (2xy - x^2) dx + (x + y^2) dy，L 为 y = x^2 和 y^2 = x 所围边界正向</a:t>
            </a:r>
          </a:p>
          <a:p>
            <a:pPr>
              <a:spcAft>
                <a:spcPts val="600"/>
              </a:spcAft>
              <a:defRPr sz="2000"/>
            </a:pPr>
            <a:r>
              <a:t>解法：验证格林公式条件，计算 ∂Q/∂x - ∂P/∂y = 1 - 2x，化为二重积分，用 X 型区域积分</a:t>
            </a:r>
          </a:p>
          <a:p>
            <a:pPr>
              <a:spcAft>
                <a:spcPts val="600"/>
              </a:spcAft>
              <a:defRPr sz="2000"/>
            </a:pPr>
            <a:r>
              <a:t>例2：计算 ∫_L (e^x sin y - 2y) dx + (e^x cos y - 2) dy，L 为上半圆周从(0,0)到(2,0)</a:t>
            </a:r>
          </a:p>
          <a:p>
            <a:pPr>
              <a:spcAft>
                <a:spcPts val="600"/>
              </a:spcAft>
              <a:defRPr sz="2000"/>
            </a:pPr>
            <a:r>
              <a:t>解法：补上从(2,0)到(0,0)的直线段，用格林公式计算闭路积分，再减去直线段积分</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a:solidFill>
                  <a:srgbClr val="1F497D"/>
                </a:solidFill>
              </a:defRPr>
            </a:pPr>
            <a:r>
              <a:t>小结与注意事项</a:t>
            </a:r>
          </a:p>
        </p:txBody>
      </p:sp>
      <p:sp>
        <p:nvSpPr>
          <p:cNvPr id="3" name="Content Placeholder 2"/>
          <p:cNvSpPr>
            <a:spLocks noGrp="1"/>
          </p:cNvSpPr>
          <p:nvPr>
            <p:ph idx="1"/>
          </p:nvPr>
        </p:nvSpPr>
        <p:spPr/>
        <p:txBody>
          <a:bodyPr/>
          <a:lstStyle/>
          <a:p/>
          <a:p>
            <a:pPr>
              <a:spcAft>
                <a:spcPts val="600"/>
              </a:spcAft>
              <a:defRPr sz="2000"/>
            </a:pPr>
            <a:r>
              <a:t>格林公式：∮_L P dx + Q dy = ∬_D (∂Q/∂x - ∂P/∂y) dσ</a:t>
            </a:r>
          </a:p>
          <a:p>
            <a:pPr>
              <a:spcAft>
                <a:spcPts val="600"/>
              </a:spcAft>
              <a:defRPr sz="2000"/>
            </a:pPr>
            <a:r>
              <a:t>适用条件：封闭曲线正向、函数一阶偏导连续、区域无奇点</a:t>
            </a:r>
          </a:p>
          <a:p>
            <a:pPr>
              <a:spcAft>
                <a:spcPts val="600"/>
              </a:spcAft>
              <a:defRPr sz="2000"/>
            </a:pPr>
            <a:r>
              <a:t>主要应用：求面积、简化封闭曲线积分、处理非封闭曲线（补线法）、处理含奇点区域（挖洞法）</a:t>
            </a:r>
          </a:p>
          <a:p>
            <a:pPr>
              <a:spcAft>
                <a:spcPts val="600"/>
              </a:spcAft>
              <a:defRPr sz="2000"/>
            </a:pPr>
            <a:r>
              <a:t>常见错误：忘记正向、二重积分区域弄错、忽视偏导的差顺序</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